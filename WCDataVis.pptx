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62" r:id="rId2"/>
    <p:sldId id="257" r:id="rId3"/>
    <p:sldId id="258" r:id="rId4"/>
    <p:sldId id="261" r:id="rId5"/>
    <p:sldId id="263" r:id="rId6"/>
    <p:sldId id="259" r:id="rId7"/>
    <p:sldId id="269" r:id="rId8"/>
    <p:sldId id="264" r:id="rId9"/>
    <p:sldId id="268" r:id="rId10"/>
    <p:sldId id="267" r:id="rId11"/>
    <p:sldId id="266" r:id="rId12"/>
    <p:sldId id="265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B000"/>
    <a:srgbClr val="00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8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9A6A2-6EC6-4637-BE62-0CBEF9F77122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EC683-857A-4F37-8C85-88DB827963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3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EA72-6740-46BE-8DE8-7F85407A5B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31619" y="2305366"/>
            <a:ext cx="9144000" cy="2091373"/>
          </a:xfrm>
        </p:spPr>
        <p:txBody>
          <a:bodyPr wrap="square" lIns="0" tIns="0" rIns="0" bIns="0" anchor="ctr">
            <a:normAutofit/>
          </a:bodyPr>
          <a:lstStyle>
            <a:lvl1pPr algn="ctr">
              <a:defRPr sz="6000" b="0">
                <a:solidFill>
                  <a:srgbClr val="00003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r-HR" dirty="0"/>
              <a:t>Naslov rada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7C638-1956-476D-A53A-B142DCFD28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3999" y="4630637"/>
            <a:ext cx="9144000" cy="4823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rgbClr val="ECB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Ime studenta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A91FA-DF31-42D9-AF10-990432A5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810C-72C7-4D2B-95AA-5B9875208CF3}" type="datetime1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226EB-7BE4-47AF-A112-780A73C4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 dirty="0"/>
              <a:t>Zagreb, mjesec 2020.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6168B-A605-41B5-9B14-2774B5FB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pPr/>
              <a:t>‹#›</a:t>
            </a:fld>
            <a:r>
              <a:rPr lang="hr-HR" dirty="0"/>
              <a:t>/x</a:t>
            </a:r>
            <a:endParaRPr lang="en-GB" dirty="0"/>
          </a:p>
        </p:txBody>
      </p:sp>
      <p:pic>
        <p:nvPicPr>
          <p:cNvPr id="19" name="Picture 18" descr="A picture containing laptop, clock, drawing&#10;&#10;Description automatically generated">
            <a:extLst>
              <a:ext uri="{FF2B5EF4-FFF2-40B4-BE49-F238E27FC236}">
                <a16:creationId xmlns:a16="http://schemas.microsoft.com/office/drawing/2014/main" id="{4EF824F6-7DAB-42C8-B611-85BB87B452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t="22581" r="664" b="20419"/>
          <a:stretch/>
        </p:blipFill>
        <p:spPr>
          <a:xfrm>
            <a:off x="3188493" y="136525"/>
            <a:ext cx="5815013" cy="1167664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DC19A2C-F21B-4172-BC13-DC286D3980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9831" y="1922045"/>
            <a:ext cx="7272338" cy="3029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ECB000"/>
                </a:solidFill>
              </a:defRPr>
            </a:lvl1pPr>
          </a:lstStyle>
          <a:p>
            <a:pPr lvl="0"/>
            <a:r>
              <a:rPr lang="hr-HR" dirty="0"/>
              <a:t>Završni / diplomski rad br. XXXX</a:t>
            </a:r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37A877-3E07-4F4C-8C8A-E9DF9022D26A}"/>
              </a:ext>
            </a:extLst>
          </p:cNvPr>
          <p:cNvGrpSpPr/>
          <p:nvPr userDrawn="1"/>
        </p:nvGrpSpPr>
        <p:grpSpPr>
          <a:xfrm>
            <a:off x="142043" y="6216518"/>
            <a:ext cx="11944983" cy="46437"/>
            <a:chOff x="142043" y="6216518"/>
            <a:chExt cx="11944983" cy="4643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EF5AD40-AB1E-499D-9F43-AD7F4EEB5209}"/>
                </a:ext>
              </a:extLst>
            </p:cNvPr>
            <p:cNvSpPr/>
            <p:nvPr userDrawn="1"/>
          </p:nvSpPr>
          <p:spPr>
            <a:xfrm>
              <a:off x="142043" y="6216518"/>
              <a:ext cx="11844000" cy="25200"/>
            </a:xfrm>
            <a:prstGeom prst="rect">
              <a:avLst/>
            </a:prstGeom>
            <a:solidFill>
              <a:srgbClr val="000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41D987B-164E-47FF-A40B-149203B6ED8B}"/>
                </a:ext>
              </a:extLst>
            </p:cNvPr>
            <p:cNvSpPr/>
            <p:nvPr userDrawn="1"/>
          </p:nvSpPr>
          <p:spPr>
            <a:xfrm>
              <a:off x="243026" y="6237755"/>
              <a:ext cx="11844000" cy="25200"/>
            </a:xfrm>
            <a:prstGeom prst="rect">
              <a:avLst/>
            </a:prstGeom>
            <a:solidFill>
              <a:srgbClr val="EC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2910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1408-EFF9-4968-B5EF-FC893B42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3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3474C-4F32-4A7C-A9C1-203806ECE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D95A7-B4B5-4E53-A48A-EECBECC16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9B73-0BB8-48E3-A11F-6ED4F40B76F4}" type="datetime1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7AE1B-BD74-4434-A46A-C6EA7AF7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Zagreb, mjesec 2020.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F9CF2-130B-4EFB-B44C-884B42C0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pPr/>
              <a:t>‹#›</a:t>
            </a:fld>
            <a:r>
              <a:rPr lang="hr-HR" dirty="0"/>
              <a:t>/x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6F9057-1240-459E-8A7A-D40FB850AF7F}"/>
              </a:ext>
            </a:extLst>
          </p:cNvPr>
          <p:cNvSpPr/>
          <p:nvPr userDrawn="1"/>
        </p:nvSpPr>
        <p:spPr>
          <a:xfrm>
            <a:off x="142042" y="1080233"/>
            <a:ext cx="11795760" cy="45719"/>
          </a:xfrm>
          <a:prstGeom prst="rect">
            <a:avLst/>
          </a:prstGeom>
          <a:solidFill>
            <a:srgbClr val="00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AEFF8-4FA3-41EE-B653-37AC73C5F6F0}"/>
              </a:ext>
            </a:extLst>
          </p:cNvPr>
          <p:cNvSpPr/>
          <p:nvPr userDrawn="1"/>
        </p:nvSpPr>
        <p:spPr>
          <a:xfrm>
            <a:off x="243025" y="1131424"/>
            <a:ext cx="11743017" cy="45719"/>
          </a:xfrm>
          <a:prstGeom prst="rect">
            <a:avLst/>
          </a:prstGeom>
          <a:solidFill>
            <a:srgbClr val="ECB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4B496E1-E97A-4257-A3E2-AD5AAE9E79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9" t="26720" r="16897" b="25609"/>
          <a:stretch/>
        </p:blipFill>
        <p:spPr>
          <a:xfrm>
            <a:off x="10413417" y="201567"/>
            <a:ext cx="1634966" cy="73106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A9F239D-AF55-416B-A6A2-D01CA9A69447}"/>
              </a:ext>
            </a:extLst>
          </p:cNvPr>
          <p:cNvGrpSpPr/>
          <p:nvPr userDrawn="1"/>
        </p:nvGrpSpPr>
        <p:grpSpPr>
          <a:xfrm>
            <a:off x="142043" y="6216518"/>
            <a:ext cx="11944983" cy="46437"/>
            <a:chOff x="142043" y="6216518"/>
            <a:chExt cx="11944983" cy="4643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034201-779C-4057-9FC4-BE4AEA683F09}"/>
                </a:ext>
              </a:extLst>
            </p:cNvPr>
            <p:cNvSpPr/>
            <p:nvPr userDrawn="1"/>
          </p:nvSpPr>
          <p:spPr>
            <a:xfrm>
              <a:off x="142043" y="6216518"/>
              <a:ext cx="11844000" cy="25200"/>
            </a:xfrm>
            <a:prstGeom prst="rect">
              <a:avLst/>
            </a:prstGeom>
            <a:solidFill>
              <a:srgbClr val="000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6C6AFB-68C7-44F8-93BD-D2AFF362F1C3}"/>
                </a:ext>
              </a:extLst>
            </p:cNvPr>
            <p:cNvSpPr/>
            <p:nvPr userDrawn="1"/>
          </p:nvSpPr>
          <p:spPr>
            <a:xfrm>
              <a:off x="243026" y="6237755"/>
              <a:ext cx="11844000" cy="25200"/>
            </a:xfrm>
            <a:prstGeom prst="rect">
              <a:avLst/>
            </a:prstGeom>
            <a:solidFill>
              <a:srgbClr val="EC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8136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15BA-A940-484A-ACB8-A9572592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500187"/>
          </a:xfrm>
        </p:spPr>
        <p:txBody>
          <a:bodyPr anchor="b"/>
          <a:lstStyle>
            <a:lvl1pPr>
              <a:defRPr sz="6000">
                <a:solidFill>
                  <a:srgbClr val="00003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77398-E906-41CF-A284-4E8D42D56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99599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F451F-56C8-4F2C-B90B-3EA42733D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FBC0-B9A5-42AF-A711-870248310F6D}" type="datetime1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61296-2D3A-4520-A859-AD512A74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60C9D-151F-4D16-9CBF-6A29E695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pPr/>
              <a:t>‹#›</a:t>
            </a:fld>
            <a:r>
              <a:rPr lang="hr-HR" dirty="0"/>
              <a:t>/x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CCE0ED-1F81-47E3-AB79-0D8E236677DF}"/>
              </a:ext>
            </a:extLst>
          </p:cNvPr>
          <p:cNvSpPr/>
          <p:nvPr userDrawn="1"/>
        </p:nvSpPr>
        <p:spPr>
          <a:xfrm>
            <a:off x="142043" y="1054595"/>
            <a:ext cx="11795760" cy="64800"/>
          </a:xfrm>
          <a:prstGeom prst="rect">
            <a:avLst/>
          </a:prstGeom>
          <a:solidFill>
            <a:srgbClr val="00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50725-9AFB-4102-8C25-69F719622686}"/>
              </a:ext>
            </a:extLst>
          </p:cNvPr>
          <p:cNvSpPr/>
          <p:nvPr userDrawn="1"/>
        </p:nvSpPr>
        <p:spPr>
          <a:xfrm>
            <a:off x="243026" y="1112344"/>
            <a:ext cx="11795760" cy="64800"/>
          </a:xfrm>
          <a:prstGeom prst="rect">
            <a:avLst/>
          </a:prstGeom>
          <a:solidFill>
            <a:srgbClr val="ECB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790A097C-6F3B-4345-ACAE-E35E80DD5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9" t="26720" r="16897" b="25609"/>
          <a:stretch/>
        </p:blipFill>
        <p:spPr>
          <a:xfrm>
            <a:off x="10413417" y="201567"/>
            <a:ext cx="1634966" cy="73106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CEF1EE-1938-42D3-A543-390AD4D81E52}"/>
              </a:ext>
            </a:extLst>
          </p:cNvPr>
          <p:cNvGrpSpPr/>
          <p:nvPr userDrawn="1"/>
        </p:nvGrpSpPr>
        <p:grpSpPr>
          <a:xfrm>
            <a:off x="142043" y="6216518"/>
            <a:ext cx="11944983" cy="46437"/>
            <a:chOff x="142043" y="6216518"/>
            <a:chExt cx="11944983" cy="4643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1CF8B2-3374-40CA-9251-B9F35A69056F}"/>
                </a:ext>
              </a:extLst>
            </p:cNvPr>
            <p:cNvSpPr/>
            <p:nvPr userDrawn="1"/>
          </p:nvSpPr>
          <p:spPr>
            <a:xfrm>
              <a:off x="142043" y="6216518"/>
              <a:ext cx="11844000" cy="25200"/>
            </a:xfrm>
            <a:prstGeom prst="rect">
              <a:avLst/>
            </a:prstGeom>
            <a:solidFill>
              <a:srgbClr val="000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35AF43-A374-47E5-A608-24638F434785}"/>
                </a:ext>
              </a:extLst>
            </p:cNvPr>
            <p:cNvSpPr/>
            <p:nvPr userDrawn="1"/>
          </p:nvSpPr>
          <p:spPr>
            <a:xfrm>
              <a:off x="243026" y="6237755"/>
              <a:ext cx="11844000" cy="25200"/>
            </a:xfrm>
            <a:prstGeom prst="rect">
              <a:avLst/>
            </a:prstGeom>
            <a:solidFill>
              <a:srgbClr val="EC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4154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46F4-5A43-490B-AFE4-6DD116915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3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5E094-E16D-4AC8-9028-5EF3E3BD0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C9F2C-ED0D-4AA6-AA62-B5583136C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9DD23-B639-4711-B2CB-A6D89640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C02B9-BE46-454F-8C75-B789E3310C1E}" type="datetime1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7BB4B-C90F-45A4-AB48-0EE93510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84C74-9AFA-4055-8DA0-691C1CA7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pPr/>
              <a:t>‹#›</a:t>
            </a:fld>
            <a:r>
              <a:rPr lang="hr-HR" dirty="0"/>
              <a:t>/x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69E16-7F41-4F39-A694-A4240903E450}"/>
              </a:ext>
            </a:extLst>
          </p:cNvPr>
          <p:cNvSpPr/>
          <p:nvPr userDrawn="1"/>
        </p:nvSpPr>
        <p:spPr>
          <a:xfrm>
            <a:off x="142043" y="1054595"/>
            <a:ext cx="9972000" cy="64800"/>
          </a:xfrm>
          <a:prstGeom prst="rect">
            <a:avLst/>
          </a:prstGeom>
          <a:solidFill>
            <a:srgbClr val="00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290D36-CD85-45BE-827B-AB5A49DBBC11}"/>
              </a:ext>
            </a:extLst>
          </p:cNvPr>
          <p:cNvSpPr/>
          <p:nvPr userDrawn="1"/>
        </p:nvSpPr>
        <p:spPr>
          <a:xfrm>
            <a:off x="243026" y="1112344"/>
            <a:ext cx="9972000" cy="64800"/>
          </a:xfrm>
          <a:prstGeom prst="rect">
            <a:avLst/>
          </a:prstGeom>
          <a:solidFill>
            <a:srgbClr val="ECB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24EE6-C4A5-46D3-BD76-E515C2CFAE29}"/>
              </a:ext>
            </a:extLst>
          </p:cNvPr>
          <p:cNvSpPr txBox="1"/>
          <p:nvPr userDrawn="1"/>
        </p:nvSpPr>
        <p:spPr>
          <a:xfrm>
            <a:off x="10293609" y="1031057"/>
            <a:ext cx="1874582" cy="1769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r-HR" sz="1150" b="1" dirty="0">
                <a:latin typeface="Arial" panose="020B0604020202020204" pitchFamily="34" charset="0"/>
                <a:cs typeface="Arial" panose="020B0604020202020204" pitchFamily="34" charset="0"/>
              </a:rPr>
              <a:t>Zavod za telekomunikacije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E45EFDB-9F70-4068-9DCC-AC3AF642B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9" t="26720" r="16897" b="25609"/>
          <a:stretch/>
        </p:blipFill>
        <p:spPr>
          <a:xfrm>
            <a:off x="10413417" y="201567"/>
            <a:ext cx="1634966" cy="73106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3FFC322-F422-488B-B2A2-389503168388}"/>
              </a:ext>
            </a:extLst>
          </p:cNvPr>
          <p:cNvGrpSpPr/>
          <p:nvPr userDrawn="1"/>
        </p:nvGrpSpPr>
        <p:grpSpPr>
          <a:xfrm>
            <a:off x="142043" y="6216518"/>
            <a:ext cx="11944983" cy="46437"/>
            <a:chOff x="142043" y="6216518"/>
            <a:chExt cx="11944983" cy="4643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768FEC-6155-4B1C-B124-17B645431693}"/>
                </a:ext>
              </a:extLst>
            </p:cNvPr>
            <p:cNvSpPr/>
            <p:nvPr userDrawn="1"/>
          </p:nvSpPr>
          <p:spPr>
            <a:xfrm>
              <a:off x="142043" y="6216518"/>
              <a:ext cx="11844000" cy="25200"/>
            </a:xfrm>
            <a:prstGeom prst="rect">
              <a:avLst/>
            </a:prstGeom>
            <a:solidFill>
              <a:srgbClr val="000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74C4321-1937-4A86-AA3E-A6E713794FBD}"/>
                </a:ext>
              </a:extLst>
            </p:cNvPr>
            <p:cNvSpPr/>
            <p:nvPr userDrawn="1"/>
          </p:nvSpPr>
          <p:spPr>
            <a:xfrm>
              <a:off x="243026" y="6237755"/>
              <a:ext cx="11844000" cy="25200"/>
            </a:xfrm>
            <a:prstGeom prst="rect">
              <a:avLst/>
            </a:prstGeom>
            <a:solidFill>
              <a:srgbClr val="EC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351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FC88-E1ED-4239-B2DD-99AE69B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26" y="136526"/>
            <a:ext cx="9871017" cy="894532"/>
          </a:xfrm>
        </p:spPr>
        <p:txBody>
          <a:bodyPr/>
          <a:lstStyle>
            <a:lvl1pPr>
              <a:defRPr>
                <a:solidFill>
                  <a:srgbClr val="00003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51936-6453-44CB-91CE-0778F5E9C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C4477-DE9D-4F6B-A679-0CBA64CBF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E06F0-BD37-43DB-91D8-576A699B0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FAADA-E372-474C-9F1D-5B01615AD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2177E-4997-4D38-A1B0-69E660DF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04553-7D73-4BF3-843B-E351C9A2B80B}" type="datetime1">
              <a:rPr lang="en-GB" smtClean="0"/>
              <a:t>27/01/2026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A3D4E-B015-482C-AF6E-F69B4676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3B314A-2169-47B0-A4C6-4D099CAD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AC7F2-6F6D-4B62-A452-E6F853949EE1}"/>
              </a:ext>
            </a:extLst>
          </p:cNvPr>
          <p:cNvSpPr/>
          <p:nvPr userDrawn="1"/>
        </p:nvSpPr>
        <p:spPr>
          <a:xfrm>
            <a:off x="142043" y="1054595"/>
            <a:ext cx="9972000" cy="64800"/>
          </a:xfrm>
          <a:prstGeom prst="rect">
            <a:avLst/>
          </a:prstGeom>
          <a:solidFill>
            <a:srgbClr val="00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FAA910-F7C3-4756-92C6-8981910FBFD2}"/>
              </a:ext>
            </a:extLst>
          </p:cNvPr>
          <p:cNvSpPr/>
          <p:nvPr userDrawn="1"/>
        </p:nvSpPr>
        <p:spPr>
          <a:xfrm>
            <a:off x="243026" y="1112344"/>
            <a:ext cx="9972000" cy="64800"/>
          </a:xfrm>
          <a:prstGeom prst="rect">
            <a:avLst/>
          </a:prstGeom>
          <a:solidFill>
            <a:srgbClr val="ECB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4EEE6B-8DB1-432B-8692-79AE18233DC2}"/>
              </a:ext>
            </a:extLst>
          </p:cNvPr>
          <p:cNvSpPr txBox="1"/>
          <p:nvPr userDrawn="1"/>
        </p:nvSpPr>
        <p:spPr>
          <a:xfrm>
            <a:off x="10293609" y="1031057"/>
            <a:ext cx="1874582" cy="1769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hr-HR" sz="1150" b="1" dirty="0">
                <a:latin typeface="Arial" panose="020B0604020202020204" pitchFamily="34" charset="0"/>
                <a:cs typeface="Arial" panose="020B0604020202020204" pitchFamily="34" charset="0"/>
              </a:rPr>
              <a:t>Zavod za telekomunikacije</a:t>
            </a:r>
            <a:endParaRPr lang="en-GB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8822331C-9D19-4191-B303-42BC2BAB8B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9" t="26720" r="16897" b="25609"/>
          <a:stretch/>
        </p:blipFill>
        <p:spPr>
          <a:xfrm>
            <a:off x="10413417" y="201567"/>
            <a:ext cx="1634966" cy="73106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0E331A6-C625-44E3-B7EF-CA0BF449EDD9}"/>
              </a:ext>
            </a:extLst>
          </p:cNvPr>
          <p:cNvGrpSpPr/>
          <p:nvPr userDrawn="1"/>
        </p:nvGrpSpPr>
        <p:grpSpPr>
          <a:xfrm>
            <a:off x="142043" y="6216518"/>
            <a:ext cx="11944983" cy="46437"/>
            <a:chOff x="142043" y="6216518"/>
            <a:chExt cx="11944983" cy="4643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80A35DD-DEB0-4923-A36D-D02CCC4CFDA1}"/>
                </a:ext>
              </a:extLst>
            </p:cNvPr>
            <p:cNvSpPr/>
            <p:nvPr userDrawn="1"/>
          </p:nvSpPr>
          <p:spPr>
            <a:xfrm>
              <a:off x="142043" y="6216518"/>
              <a:ext cx="11844000" cy="25200"/>
            </a:xfrm>
            <a:prstGeom prst="rect">
              <a:avLst/>
            </a:prstGeom>
            <a:solidFill>
              <a:srgbClr val="0000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F4B4CD-77AC-4766-B69A-9E6E19B22ECA}"/>
                </a:ext>
              </a:extLst>
            </p:cNvPr>
            <p:cNvSpPr/>
            <p:nvPr userDrawn="1"/>
          </p:nvSpPr>
          <p:spPr>
            <a:xfrm>
              <a:off x="243026" y="6237755"/>
              <a:ext cx="11844000" cy="25200"/>
            </a:xfrm>
            <a:prstGeom prst="rect">
              <a:avLst/>
            </a:prstGeom>
            <a:solidFill>
              <a:srgbClr val="ECB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5451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E870-0B09-418B-BAAB-CDF019F4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33E0E-6495-4E60-884C-D1616487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8C145-5923-48CB-82D3-B65ABA8264CA}" type="datetime1">
              <a:rPr lang="en-GB" smtClean="0"/>
              <a:t>27/01/2026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58CE5-C2CA-470A-B348-09E60BC76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56F9D-F472-4A89-B749-536ADA93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15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9465B-3561-4837-B7EB-0379F147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0D88-4FCB-409C-AAEA-9F957DD928CE}" type="datetime1">
              <a:rPr lang="en-GB" smtClean="0"/>
              <a:t>27/01/2026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FE5F9-6624-4AED-843C-68578E315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7466F-EB18-4174-83E7-601D89A6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90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02A3-7183-4B6E-992D-8A8BA28F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2BAD-7CEF-4550-827E-5B9786D90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B6E3A-67F1-46DE-B0F2-793E73CAE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A656C-0923-41C0-BF38-FDED5F1B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5AC31-8B2F-4683-81E2-513EEC589928}" type="datetime1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6B238-1DAD-4636-B402-2BEE3257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D1C3-1A93-4653-826D-6D190FE0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04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8CD5-2B86-47DC-9B12-5DE11646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AAF5A-8CFB-40E7-A1DC-6F7E1524C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F5F2B-5888-49D2-9350-51E44CE7B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16F17-A2D7-48B8-82FF-FBC27DA3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E24B7-09C7-4016-AEBE-BBBDD65AAE49}" type="datetime1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D007F-7F52-4D6D-AD21-9D3A19FE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A85EA-32AD-4CAC-A6D8-BC2707BD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317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057B-82CF-438D-8670-E49D2688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0DA91-534E-480B-A900-F29EBB886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DCF6E-61CD-44E3-B6F9-1D87EBA5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A236-B9C1-4337-A4BE-940534096DEE}" type="datetime1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D6B0B-E565-411A-A41C-77B58B298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205CE-2877-4FC9-972E-8F8F478C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31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DE11E-E2B0-4063-B69D-3F200BEEA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63904-CFBA-4FD8-9225-DDECBB8F4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AA202-CD63-44E7-B4D2-2209EE2F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512B-1FA4-4638-8025-4B9E6BA1A189}" type="datetime1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09CD0-61D7-4A62-BC7B-3879B8BD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CCE9-6994-433C-B2A5-F31838AE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29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FE052F-F492-46B9-9A1C-370B82A48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126" y="136525"/>
            <a:ext cx="9832917" cy="90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C52AB-21CC-4A8E-A259-8EB1F5831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126" y="1411549"/>
            <a:ext cx="11629748" cy="4729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4AF80-6A30-477A-9BE0-98874C2ED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6FC73-C6B3-4012-A7EB-4279D4E7A077}" type="datetime1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39BFD-48B3-408D-BC58-9D4BB3E88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r-HR"/>
              <a:t>Zagreb, mjesec 2020.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D285-D754-450B-B329-77065DFC5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8976BA-759F-4E81-AA35-BFB7FE29E2CE}" type="slidenum">
              <a:rPr lang="en-GB" smtClean="0"/>
              <a:pPr/>
              <a:t>‹#›</a:t>
            </a:fld>
            <a:r>
              <a:rPr lang="hr-HR"/>
              <a:t>/x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95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003F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CB000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CB000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CB000"/>
        </a:buClr>
        <a:buSzPct val="10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CB000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fjelstul/worldcup/tree/mast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29B730-F33A-4715-890F-054769920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1619" y="1843892"/>
            <a:ext cx="9144000" cy="2091373"/>
          </a:xfrm>
        </p:spPr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Vizualizacija podataka:</a:t>
            </a:r>
            <a:br>
              <a:rPr lang="hr-HR" dirty="0">
                <a:solidFill>
                  <a:schemeClr val="tx1"/>
                </a:solidFill>
              </a:rPr>
            </a:br>
            <a:r>
              <a:rPr lang="hr-HR" dirty="0">
                <a:solidFill>
                  <a:schemeClr val="tx1"/>
                </a:solidFill>
              </a:rPr>
              <a:t>3. Laboratorijska vježba</a:t>
            </a:r>
            <a:endParaRPr lang="en-GB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70D19D0-7072-4CF3-92C8-4063C6B6D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469451"/>
            <a:ext cx="9144000" cy="1495514"/>
          </a:xfrm>
        </p:spPr>
        <p:txBody>
          <a:bodyPr>
            <a:normAutofit/>
          </a:bodyPr>
          <a:lstStyle/>
          <a:p>
            <a:r>
              <a:rPr lang="hr-HR" dirty="0"/>
              <a:t>Tomislav Pranjić, 0036544111</a:t>
            </a:r>
          </a:p>
          <a:p>
            <a:r>
              <a:rPr lang="hr-HR" dirty="0"/>
              <a:t>Dino Gabrić, 0036549716</a:t>
            </a:r>
          </a:p>
          <a:p>
            <a:r>
              <a:rPr lang="hr-HR" dirty="0"/>
              <a:t>Fran Galić, 0036546889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610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281D-C0BE-9AA5-5829-0F46B6F6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i="1" dirty="0" err="1">
                <a:solidFill>
                  <a:schemeClr val="tx1"/>
                </a:solidFill>
              </a:rPr>
              <a:t>The</a:t>
            </a:r>
            <a:r>
              <a:rPr lang="hr-HR" i="1" dirty="0">
                <a:solidFill>
                  <a:schemeClr val="tx1"/>
                </a:solidFill>
              </a:rPr>
              <a:t> </a:t>
            </a:r>
            <a:r>
              <a:rPr lang="hr-HR" i="1" dirty="0" err="1">
                <a:solidFill>
                  <a:schemeClr val="tx1"/>
                </a:solidFill>
              </a:rPr>
              <a:t>Fjelstul</a:t>
            </a:r>
            <a:r>
              <a:rPr lang="hr-HR" i="1" dirty="0">
                <a:solidFill>
                  <a:schemeClr val="tx1"/>
                </a:solidFill>
              </a:rPr>
              <a:t> World Cup </a:t>
            </a:r>
            <a:r>
              <a:rPr lang="hr-HR" i="1" dirty="0" err="1">
                <a:solidFill>
                  <a:schemeClr val="tx1"/>
                </a:solidFill>
              </a:rPr>
              <a:t>Database</a:t>
            </a:r>
            <a:endParaRPr lang="hr-HR" i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4282D-813F-9ADF-7951-268C11A56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81885"/>
            <a:ext cx="8596668" cy="3089932"/>
          </a:xfrm>
        </p:spPr>
        <p:txBody>
          <a:bodyPr/>
          <a:lstStyle/>
          <a:p>
            <a:r>
              <a:rPr lang="hr-HR" dirty="0"/>
              <a:t>Korišteni podaci o svim dosada održanim svjetskim nogometnim prvenstvima</a:t>
            </a:r>
          </a:p>
          <a:p>
            <a:r>
              <a:rPr lang="hr-HR" dirty="0"/>
              <a:t>Podaci skupljeni i korišteni u </a:t>
            </a:r>
            <a:r>
              <a:rPr lang="hr-HR" i="1" dirty="0"/>
              <a:t>The Washington Post, The Times, The Markup</a:t>
            </a:r>
          </a:p>
          <a:p>
            <a:r>
              <a:rPr lang="hr-HR" dirty="0"/>
              <a:t>Web-adresa podataka:</a:t>
            </a:r>
          </a:p>
          <a:p>
            <a:pPr lvl="1"/>
            <a:r>
              <a:rPr lang="hr-HR" dirty="0">
                <a:hlinkClick r:id="rId2"/>
              </a:rPr>
              <a:t>https://github.com/jfjelstul/worldcup/tree/master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9993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C3C1-96F3-ECC3-22D2-8ED848CA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Što </a:t>
            </a:r>
            <a:r>
              <a:rPr lang="hr-HR" i="1" dirty="0" err="1">
                <a:solidFill>
                  <a:schemeClr val="tx1"/>
                </a:solidFill>
              </a:rPr>
              <a:t>dataset</a:t>
            </a:r>
            <a:r>
              <a:rPr lang="hr-HR" dirty="0">
                <a:solidFill>
                  <a:schemeClr val="tx1"/>
                </a:solidFill>
              </a:rPr>
              <a:t> obuhvaća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F0EF-9901-F994-C433-68088311D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Podaci o igračima, osvajačima nagrada, nagradama, zapisnicima, golovima, državama domaćinima, igračima, timovima, sucima, trenerima</a:t>
            </a:r>
          </a:p>
          <a:p>
            <a:r>
              <a:rPr lang="hr-HR" dirty="0"/>
              <a:t>Svi turniri muških nogometnih reprezentacija (1930 – 2022) i svih ženskih nogometnih reprezentacija (</a:t>
            </a:r>
            <a:r>
              <a:rPr lang="en-US" dirty="0"/>
              <a:t>1991-2019</a:t>
            </a:r>
            <a:r>
              <a:rPr lang="hr-HR" dirty="0"/>
              <a:t>)</a:t>
            </a:r>
          </a:p>
          <a:p>
            <a:r>
              <a:rPr lang="hr-HR" dirty="0"/>
              <a:t>27 datasetova</a:t>
            </a:r>
          </a:p>
          <a:p>
            <a:pPr lvl="1"/>
            <a:r>
              <a:rPr lang="hr-HR" dirty="0"/>
              <a:t>preko 1.58 milijuna podatkovnih točaka</a:t>
            </a:r>
          </a:p>
        </p:txBody>
      </p:sp>
    </p:spTree>
    <p:extLst>
      <p:ext uri="{BB962C8B-B14F-4D97-AF65-F5344CB8AC3E}">
        <p14:creationId xmlns:p14="http://schemas.microsoft.com/office/powerpoint/2010/main" val="2797532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4E2E7-471C-386C-08E7-D8F24B29C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3" y="1346477"/>
            <a:ext cx="5525830" cy="4678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B1ACA4-3C1B-A8F5-C508-CAAD80CF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4853"/>
            <a:ext cx="5733463" cy="400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6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B119-B25E-6E78-A088-4FE38F5C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Kako smo odabrali taj </a:t>
            </a:r>
            <a:r>
              <a:rPr lang="hr-HR" i="1" dirty="0" err="1">
                <a:solidFill>
                  <a:schemeClr val="tx1"/>
                </a:solidFill>
              </a:rPr>
              <a:t>dataset</a:t>
            </a:r>
            <a:endParaRPr lang="hr-H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4BB8C-4C73-9928-FF3C-7FAE20630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Prikazani zanimljivi i opširni podatci</a:t>
            </a:r>
          </a:p>
          <a:p>
            <a:r>
              <a:rPr lang="hr-HR" dirty="0"/>
              <a:t>Veliki broj podataka</a:t>
            </a:r>
          </a:p>
          <a:p>
            <a:r>
              <a:rPr lang="hr-HR" dirty="0"/>
              <a:t>Velik broj mogućnosti</a:t>
            </a:r>
          </a:p>
        </p:txBody>
      </p:sp>
    </p:spTree>
    <p:extLst>
      <p:ext uri="{BB962C8B-B14F-4D97-AF65-F5344CB8AC3E}">
        <p14:creationId xmlns:p14="http://schemas.microsoft.com/office/powerpoint/2010/main" val="2484905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AB41-BB99-EE51-46A0-317DFA13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Provedba analize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F053C-309E-DAA2-903F-99E8F719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Odabrani podaci za muške reprezentacije</a:t>
            </a:r>
          </a:p>
          <a:p>
            <a:pPr lvl="1"/>
            <a:r>
              <a:rPr lang="hr-HR" dirty="0"/>
              <a:t>Podaci o individualnim nagradama</a:t>
            </a:r>
          </a:p>
          <a:p>
            <a:pPr lvl="1"/>
            <a:r>
              <a:rPr lang="hr-HR" dirty="0"/>
              <a:t>Podaci o strijelcima</a:t>
            </a:r>
          </a:p>
          <a:p>
            <a:pPr lvl="1"/>
            <a:r>
              <a:rPr lang="hr-HR" dirty="0"/>
              <a:t>Podaci o kartonima</a:t>
            </a:r>
          </a:p>
          <a:p>
            <a:pPr lvl="1"/>
            <a:r>
              <a:rPr lang="hr-HR" dirty="0"/>
              <a:t>Podaci o 4 najbolja tima</a:t>
            </a:r>
          </a:p>
          <a:p>
            <a:r>
              <a:rPr lang="hr-HR" dirty="0"/>
              <a:t>Podaci za države koje ne postoje ostavljeni</a:t>
            </a:r>
          </a:p>
          <a:p>
            <a:pPr lvl="1"/>
            <a:r>
              <a:rPr lang="hr-HR" dirty="0"/>
              <a:t>Na karti prikaz ako se države udružile</a:t>
            </a:r>
          </a:p>
        </p:txBody>
      </p:sp>
    </p:spTree>
    <p:extLst>
      <p:ext uri="{BB962C8B-B14F-4D97-AF65-F5344CB8AC3E}">
        <p14:creationId xmlns:p14="http://schemas.microsoft.com/office/powerpoint/2010/main" val="186883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A517E-9255-099F-0CD0-F6064CD7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Zagreb, mjesec 2020.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DEFC5-E3A9-0244-F1BD-477F5D4A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76BA-759F-4E81-AA35-BFB7FE29E2CE}" type="slidenum">
              <a:rPr lang="en-GB" smtClean="0"/>
              <a:pPr/>
              <a:t>7</a:t>
            </a:fld>
            <a:r>
              <a:rPr lang="hr-HR"/>
              <a:t>/x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F8D06-6ADB-B5C5-B41D-69077EA55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35" y="1214931"/>
            <a:ext cx="7357929" cy="41267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3C54C6-577E-491A-16F4-35BC512426B4}"/>
              </a:ext>
            </a:extLst>
          </p:cNvPr>
          <p:cNvSpPr txBox="1"/>
          <p:nvPr/>
        </p:nvSpPr>
        <p:spPr>
          <a:xfrm>
            <a:off x="2486826" y="5341727"/>
            <a:ext cx="717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/>
              <a:t>Prikaz owerview taba sa nekoliko vizualizacija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79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39D2930-D0CB-1B16-DBE1-C2013F3BE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822" y="1435938"/>
            <a:ext cx="7144284" cy="39861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47D9D6-5AD7-847A-6BFB-285CEEFFD13B}"/>
              </a:ext>
            </a:extLst>
          </p:cNvPr>
          <p:cNvSpPr txBox="1"/>
          <p:nvPr/>
        </p:nvSpPr>
        <p:spPr>
          <a:xfrm>
            <a:off x="2367185" y="5469308"/>
            <a:ext cx="7255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Države iz kojih dolaze osvajači individualnih nagrada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5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A8011D-4F63-C46B-985E-16A586C7C764}"/>
              </a:ext>
            </a:extLst>
          </p:cNvPr>
          <p:cNvSpPr txBox="1"/>
          <p:nvPr/>
        </p:nvSpPr>
        <p:spPr>
          <a:xfrm>
            <a:off x="3347256" y="5667802"/>
            <a:ext cx="536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Vizualizacija broja zabijenih golova na svim prvenstvima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F1BE34-FA9F-0DBE-D58E-240F9C12B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01" y="1275987"/>
            <a:ext cx="7793765" cy="438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0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FEB8CC-1606-60C9-16BD-025BF36376CC}"/>
              </a:ext>
            </a:extLst>
          </p:cNvPr>
          <p:cNvSpPr txBox="1"/>
          <p:nvPr/>
        </p:nvSpPr>
        <p:spPr>
          <a:xfrm>
            <a:off x="2195596" y="5526981"/>
            <a:ext cx="7800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Vizualizacija broja dodjeljenih žutih i crvenih kartona na prvenstvima nakon 1970.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9AAC90-396D-F999-5EB1-9E8F87B0A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96" y="1320050"/>
            <a:ext cx="7533708" cy="420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06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064031-654C-D58E-7588-C834D8049B03}"/>
              </a:ext>
            </a:extLst>
          </p:cNvPr>
          <p:cNvSpPr txBox="1"/>
          <p:nvPr/>
        </p:nvSpPr>
        <p:spPr>
          <a:xfrm>
            <a:off x="2511790" y="5296244"/>
            <a:ext cx="7800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Vizualizacija broja broja pojavljivanja igrača na prvenstvima nakon 1970.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AF0FDD-F723-D56E-E00B-35BA1B6E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68" y="1425810"/>
            <a:ext cx="6912864" cy="38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B3F713-9124-F977-73BD-3B9F1481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28" y="1419763"/>
            <a:ext cx="7216344" cy="40184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E5BCD8-8C85-3CD0-DD2D-76E62C374C5B}"/>
              </a:ext>
            </a:extLst>
          </p:cNvPr>
          <p:cNvSpPr txBox="1"/>
          <p:nvPr/>
        </p:nvSpPr>
        <p:spPr>
          <a:xfrm>
            <a:off x="2487828" y="5438237"/>
            <a:ext cx="721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Države osvajači prva 4 mjesta i vizualizacija broja osvojenih mjesta po državi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11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4C80-A4F7-41B6-9523-882F3FE8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Dobiveni rezultati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254B-0CBF-A9A6-CD59-346639746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7609"/>
            <a:ext cx="8596668" cy="4583754"/>
          </a:xfrm>
        </p:spPr>
        <p:txBody>
          <a:bodyPr>
            <a:normAutofit fontScale="92500" lnSpcReduction="10000"/>
          </a:bodyPr>
          <a:lstStyle/>
          <a:p>
            <a:r>
              <a:rPr lang="hr-HR" dirty="0"/>
              <a:t>Prikaz karte sa osvajačima individualnih nagrada</a:t>
            </a:r>
          </a:p>
          <a:p>
            <a:pPr lvl="1"/>
            <a:r>
              <a:rPr lang="hr-HR" dirty="0"/>
              <a:t>Većina osvajača iz Europe</a:t>
            </a:r>
          </a:p>
          <a:p>
            <a:r>
              <a:rPr lang="hr-HR" dirty="0"/>
              <a:t>Prikaz broja golova</a:t>
            </a:r>
          </a:p>
          <a:p>
            <a:pPr lvl="1"/>
            <a:r>
              <a:rPr lang="hr-HR" dirty="0"/>
              <a:t>Najbolji strijelac Miroslav Klose (16)</a:t>
            </a:r>
          </a:p>
          <a:p>
            <a:pPr lvl="1"/>
            <a:r>
              <a:rPr lang="hr-HR" dirty="0"/>
              <a:t>Najviše golova na prvenstvu 2022. (172)</a:t>
            </a:r>
          </a:p>
          <a:p>
            <a:r>
              <a:rPr lang="hr-HR" dirty="0"/>
              <a:t>Prikaz kartona</a:t>
            </a:r>
          </a:p>
          <a:p>
            <a:pPr lvl="1"/>
            <a:r>
              <a:rPr lang="hr-HR" dirty="0"/>
              <a:t>Najviše žutih kartona Javier Mascerano (7)</a:t>
            </a:r>
          </a:p>
          <a:p>
            <a:pPr lvl="1"/>
            <a:r>
              <a:rPr lang="hr-HR" dirty="0"/>
              <a:t>Najviše crvenih kartona Rigobert Song i Zinedine Zidane (2)</a:t>
            </a:r>
          </a:p>
          <a:p>
            <a:r>
              <a:rPr lang="hr-HR" dirty="0"/>
              <a:t>Prikaz pojavljivanja na svjetskim prvenstvima</a:t>
            </a:r>
          </a:p>
          <a:p>
            <a:pPr lvl="1"/>
            <a:r>
              <a:rPr lang="hr-HR" dirty="0"/>
              <a:t>Od igrača najviše Lionel Messi (26)</a:t>
            </a:r>
          </a:p>
          <a:p>
            <a:r>
              <a:rPr lang="hr-HR" dirty="0"/>
              <a:t>Prikaz najbolja 4 tima na svakom svjetskom prvenstvu</a:t>
            </a:r>
          </a:p>
          <a:p>
            <a:pPr lvl="1"/>
            <a:r>
              <a:rPr lang="hr-HR" dirty="0"/>
              <a:t>Najviše Brazil (11)</a:t>
            </a:r>
          </a:p>
        </p:txBody>
      </p:sp>
    </p:spTree>
    <p:extLst>
      <p:ext uri="{BB962C8B-B14F-4D97-AF65-F5344CB8AC3E}">
        <p14:creationId xmlns:p14="http://schemas.microsoft.com/office/powerpoint/2010/main" val="260550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307</Words>
  <Application>Microsoft Office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Vizualizacija podataka: 3. Laboratorijska vježba</vt:lpstr>
      <vt:lpstr>The Fjelstul World Cup Database</vt:lpstr>
      <vt:lpstr>Što dataset obuhvaća</vt:lpstr>
      <vt:lpstr>PowerPoint Presentation</vt:lpstr>
      <vt:lpstr>Kako smo odabrali taj dataset</vt:lpstr>
      <vt:lpstr>Provedba analize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Dobiveni rezultati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WCDataPrezentacija</dc:title>
  <dc:subject/>
  <dc:creator>Tomislav Pranjić; Dino Gabrić; Fran Galić</dc:creator>
  <cp:keywords/>
  <dc:description/>
  <cp:lastModifiedBy>Tomislav Pranjić</cp:lastModifiedBy>
  <cp:revision>16</cp:revision>
  <dcterms:created xsi:type="dcterms:W3CDTF">2020-06-18T09:33:21Z</dcterms:created>
  <dcterms:modified xsi:type="dcterms:W3CDTF">2026-01-27T22:31:13Z</dcterms:modified>
  <cp:category/>
</cp:coreProperties>
</file>